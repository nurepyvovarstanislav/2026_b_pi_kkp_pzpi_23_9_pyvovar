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9"/>
  </p:notesMasterIdLst>
  <p:sldIdLst>
    <p:sldId id="256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1" r:id="rId15"/>
    <p:sldId id="265" r:id="rId16"/>
    <p:sldId id="268" r:id="rId17"/>
    <p:sldId id="267" r:id="rId18"/>
  </p:sldIdLst>
  <p:sldSz cx="9144000" cy="5143500" type="screen16x9"/>
  <p:notesSz cx="6858000" cy="9144000"/>
  <p:embeddedFontLst>
    <p:embeddedFont>
      <p:font typeface="Economica" panose="020B060402020202020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01D2B7-0908-495F-A64C-1929143784EE}" v="23" dt="2026-06-10T00:30:38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B0DBF621-52C5-D258-E4CE-C3887E46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>
            <a:extLst>
              <a:ext uri="{FF2B5EF4-FFF2-40B4-BE49-F238E27FC236}">
                <a16:creationId xmlns:a16="http://schemas.microsoft.com/office/drawing/2014/main" id="{283F995D-03F0-58B6-683E-CF73A147C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>
            <a:extLst>
              <a:ext uri="{FF2B5EF4-FFF2-40B4-BE49-F238E27FC236}">
                <a16:creationId xmlns:a16="http://schemas.microsoft.com/office/drawing/2014/main" id="{22FDF18C-8EC4-C5A8-E404-51E22C139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458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9A883C9-51C2-59F8-2E2E-195117F4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BC8B5256-40AB-FD58-327F-0BF12B488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5A8BFC93-A76A-176A-34D7-4DABFB596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1629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urePyvovarStanislav/Sreda.Frontend.git" TargetMode="External"/><Relationship Id="rId4" Type="http://schemas.openxmlformats.org/officeDocument/2006/relationships/hyperlink" Target="https://github.com/NurePyvovarStanislav/Sreda.Backend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84048" y="848139"/>
            <a:ext cx="3575904" cy="18241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ru-RU" sz="2800" dirty="0" err="1"/>
              <a:t>Програмна</a:t>
            </a:r>
            <a:r>
              <a:rPr lang="ru-RU" sz="2800" dirty="0"/>
              <a:t> система </a:t>
            </a:r>
            <a:r>
              <a:rPr lang="ru-RU" sz="2800" dirty="0" err="1"/>
              <a:t>мовного</a:t>
            </a:r>
            <a:r>
              <a:rPr lang="ru-RU" sz="2800" dirty="0"/>
              <a:t> </a:t>
            </a:r>
            <a:r>
              <a:rPr lang="ru-RU" sz="2800" dirty="0" err="1"/>
              <a:t>інтерфейсу</a:t>
            </a:r>
            <a:r>
              <a:rPr lang="ru-RU" sz="2800" dirty="0"/>
              <a:t> на </a:t>
            </a:r>
            <a:r>
              <a:rPr lang="ru-RU" sz="2800" dirty="0" err="1"/>
              <a:t>основі</a:t>
            </a:r>
            <a:r>
              <a:rPr lang="ru-RU" sz="2800" dirty="0"/>
              <a:t> </a:t>
            </a:r>
            <a:r>
              <a:rPr lang="ru-RU" sz="2800" dirty="0" err="1"/>
              <a:t>методів</a:t>
            </a:r>
            <a:r>
              <a:rPr lang="ru-RU" sz="2800" dirty="0"/>
              <a:t> штучного </a:t>
            </a:r>
            <a:r>
              <a:rPr lang="ru-RU" sz="2800" dirty="0" err="1"/>
              <a:t>інтелекту</a:t>
            </a:r>
            <a:endParaRPr sz="28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728912" y="3227940"/>
            <a:ext cx="4406845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Пивовар Станіслав Євгенович, ПЗПІ-23-9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               доцент кафедри ПІ, кандидат технічних наук Работягов </a:t>
            </a:r>
            <a:r>
              <a:rPr lang="uk-UA" dirty="0"/>
              <a:t>Андрій Валентинович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04 червня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29" y="4390925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5CB19ABD-B520-2731-334C-079305DE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4CAB0470-9105-EAE7-960E-07E1741347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Актуальність теми</a:t>
            </a:r>
            <a:endParaRPr sz="3200"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990E09B8-B7E9-8A62-8ABE-FDEF095B2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5804" y="804428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• Голосові інтерфейси спрощують взаємодію користувача з програмними системами.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• Більшість популярних голосових асистентів залежать від хмарних сервісів.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• Для локальних систем важливі </a:t>
            </a:r>
            <a:r>
              <a:rPr lang="uk-UA" dirty="0" err="1"/>
              <a:t>приватність</a:t>
            </a:r>
            <a:r>
              <a:rPr lang="uk-UA" dirty="0"/>
              <a:t>, контроль і можливість розширення.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uk-UA" dirty="0"/>
              <a:t>• </a:t>
            </a:r>
            <a:r>
              <a:rPr lang="uk-UA" dirty="0" err="1"/>
              <a:t>Мовний</a:t>
            </a:r>
            <a:r>
              <a:rPr lang="uk-UA" dirty="0"/>
              <a:t> інтерфейс може використовуватися для автоматизації дій і керування пристроями.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>
            <a:extLst>
              <a:ext uri="{FF2B5EF4-FFF2-40B4-BE49-F238E27FC236}">
                <a16:creationId xmlns:a16="http://schemas.microsoft.com/office/drawing/2014/main" id="{3E863C66-1921-95BF-CDF3-32E80081C9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04" y="4315474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7AC67B-2707-4C69-107A-989243B644D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4798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7421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Аналіз аналогів</a:t>
            </a:r>
            <a:endParaRPr sz="3200" dirty="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024599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A1B350D-224C-DF78-3228-82CA3C264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269566"/>
              </p:ext>
            </p:extLst>
          </p:nvPr>
        </p:nvGraphicFramePr>
        <p:xfrm>
          <a:off x="457200" y="837926"/>
          <a:ext cx="6440556" cy="2766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852">
                  <a:extLst>
                    <a:ext uri="{9D8B030D-6E8A-4147-A177-3AD203B41FA5}">
                      <a16:colId xmlns:a16="http://schemas.microsoft.com/office/drawing/2014/main" val="3226474403"/>
                    </a:ext>
                  </a:extLst>
                </a:gridCol>
                <a:gridCol w="2146852">
                  <a:extLst>
                    <a:ext uri="{9D8B030D-6E8A-4147-A177-3AD203B41FA5}">
                      <a16:colId xmlns:a16="http://schemas.microsoft.com/office/drawing/2014/main" val="668410989"/>
                    </a:ext>
                  </a:extLst>
                </a:gridCol>
                <a:gridCol w="2146852">
                  <a:extLst>
                    <a:ext uri="{9D8B030D-6E8A-4147-A177-3AD203B41FA5}">
                      <a16:colId xmlns:a16="http://schemas.microsoft.com/office/drawing/2014/main" val="28332409"/>
                    </a:ext>
                  </a:extLst>
                </a:gridCol>
              </a:tblGrid>
              <a:tr h="40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Аналог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Переваги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Обмеження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691946"/>
                  </a:ext>
                </a:extLst>
              </a:tr>
              <a:tr h="40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Google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багато функцій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хмарна залежність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065209"/>
                  </a:ext>
                </a:extLst>
              </a:tr>
              <a:tr h="56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Amazon Alexa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IoT-</a:t>
                      </a:r>
                      <a:r>
                        <a:rPr lang="uk-UA" dirty="0"/>
                        <a:t>екосистема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залежність від сервісів </a:t>
                      </a:r>
                      <a:r>
                        <a:rPr lang="en-US"/>
                        <a:t>Amazon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70597"/>
                  </a:ext>
                </a:extLst>
              </a:tr>
              <a:tr h="40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Apple Siri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інтеграція з </a:t>
                      </a:r>
                      <a:r>
                        <a:rPr lang="en-US"/>
                        <a:t>Apple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закрита екосистема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560143"/>
                  </a:ext>
                </a:extLst>
              </a:tr>
              <a:tr h="56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Home Assistant Assist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локальність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складніше налаштування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135946"/>
                  </a:ext>
                </a:extLst>
              </a:tr>
              <a:tr h="40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OpenVoiceOS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відкритість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технічна складність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152051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9E7C2B0-ACD2-D56D-CF8C-5446D6F97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736" y="549966"/>
            <a:ext cx="806394" cy="80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Alexa Offizielle Webseite: Was ist Alexa?">
            <a:extLst>
              <a:ext uri="{FF2B5EF4-FFF2-40B4-BE49-F238E27FC236}">
                <a16:creationId xmlns:a16="http://schemas.microsoft.com/office/drawing/2014/main" id="{6F2CA99C-3F2B-AE86-C4CC-8C6520BB9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822" y="1521103"/>
            <a:ext cx="2100470" cy="140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purportedly planning a standalone Siri app for iOS 27 and macOS 27">
            <a:extLst>
              <a:ext uri="{FF2B5EF4-FFF2-40B4-BE49-F238E27FC236}">
                <a16:creationId xmlns:a16="http://schemas.microsoft.com/office/drawing/2014/main" id="{A462A57D-D184-BA03-53E0-5A7CA9D62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735" y="2825255"/>
            <a:ext cx="1410505" cy="93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3FAA85-545E-DCC7-5259-9DFB83CCCA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9336" y="3604594"/>
            <a:ext cx="1960930" cy="9386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42" name="Picture 18" descr="Home">
            <a:extLst>
              <a:ext uri="{FF2B5EF4-FFF2-40B4-BE49-F238E27FC236}">
                <a16:creationId xmlns:a16="http://schemas.microsoft.com/office/drawing/2014/main" id="{A45FAE11-BA21-111F-092A-FFF1B1EC9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129" y="3763882"/>
            <a:ext cx="1166008" cy="9045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AE1980-573E-A6AB-57C5-2536C0A6B5CF}"/>
              </a:ext>
            </a:extLst>
          </p:cNvPr>
          <p:cNvSpPr txBox="1"/>
          <p:nvPr/>
        </p:nvSpPr>
        <p:spPr>
          <a:xfrm>
            <a:off x="1458002" y="3929758"/>
            <a:ext cx="46054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 err="1"/>
              <a:t>Sreda</a:t>
            </a:r>
            <a:r>
              <a:rPr lang="ru-UA" dirty="0"/>
              <a:t> </a:t>
            </a:r>
            <a:r>
              <a:rPr lang="ru-UA" dirty="0" err="1"/>
              <a:t>орієнтована</a:t>
            </a:r>
            <a:r>
              <a:rPr lang="ru-UA" dirty="0"/>
              <a:t> на </a:t>
            </a:r>
            <a:r>
              <a:rPr lang="ru-UA" dirty="0" err="1"/>
              <a:t>локальність</a:t>
            </a:r>
            <a:r>
              <a:rPr lang="ru-UA" dirty="0"/>
              <a:t>, контроль, </a:t>
            </a:r>
            <a:r>
              <a:rPr lang="ru-UA" dirty="0" err="1"/>
              <a:t>розширюваність</a:t>
            </a:r>
            <a:r>
              <a:rPr lang="ru-UA" dirty="0"/>
              <a:t> і </a:t>
            </a:r>
            <a:r>
              <a:rPr lang="ru-UA" dirty="0" err="1"/>
              <a:t>демонстрацію</a:t>
            </a:r>
            <a:r>
              <a:rPr lang="ru-UA" dirty="0"/>
              <a:t> </a:t>
            </a:r>
            <a:r>
              <a:rPr lang="ru-UA" dirty="0" err="1"/>
              <a:t>повного</a:t>
            </a:r>
            <a:r>
              <a:rPr lang="ru-UA" dirty="0"/>
              <a:t> циклу </a:t>
            </a:r>
            <a:r>
              <a:rPr lang="ru-UA" dirty="0" err="1"/>
              <a:t>обробки</a:t>
            </a:r>
            <a:r>
              <a:rPr lang="ru-UA" dirty="0"/>
              <a:t> команд.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F97FE8-4644-8DE4-6A04-BF00B529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037" y="829802"/>
            <a:ext cx="2782229" cy="3709639"/>
          </a:xfrm>
          <a:prstGeom prst="rect">
            <a:avLst/>
          </a:prstGeom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68711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ru-RU" sz="3200" dirty="0"/>
              <a:t>Мета, </a:t>
            </a:r>
            <a:r>
              <a:rPr lang="ru-RU" sz="3200" dirty="0" err="1"/>
              <a:t>об’єкт</a:t>
            </a:r>
            <a:r>
              <a:rPr lang="ru-RU" sz="3200" dirty="0"/>
              <a:t> і предмет </a:t>
            </a:r>
            <a:r>
              <a:rPr lang="ru-RU" sz="3200" dirty="0" err="1"/>
              <a:t>роботи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480397"/>
            <a:ext cx="6423637" cy="3891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Мета роботи: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розробка програмної системи </a:t>
            </a:r>
            <a:r>
              <a:rPr lang="uk-UA" dirty="0" err="1">
                <a:solidFill>
                  <a:srgbClr val="0D0D0D"/>
                </a:solidFill>
              </a:rPr>
              <a:t>мовного</a:t>
            </a:r>
            <a:r>
              <a:rPr lang="uk-UA" dirty="0">
                <a:solidFill>
                  <a:srgbClr val="0D0D0D"/>
                </a:solidFill>
              </a:rPr>
              <a:t> інтерфейсу </a:t>
            </a:r>
            <a:r>
              <a:rPr lang="en-US" dirty="0" err="1">
                <a:solidFill>
                  <a:srgbClr val="0D0D0D"/>
                </a:solidFill>
              </a:rPr>
              <a:t>Sreda</a:t>
            </a:r>
            <a:r>
              <a:rPr lang="en-US" dirty="0">
                <a:solidFill>
                  <a:srgbClr val="0D0D0D"/>
                </a:solidFill>
              </a:rPr>
              <a:t> </a:t>
            </a:r>
            <a:r>
              <a:rPr lang="uk-UA" dirty="0">
                <a:solidFill>
                  <a:srgbClr val="0D0D0D"/>
                </a:solidFill>
              </a:rPr>
              <a:t>для обробки текстових і голосових команд користувача.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Об’єкт: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процес взаємодії користувача з програмною системою за допомогою команд природною мовою.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Предмет:</a:t>
            </a:r>
          </a:p>
          <a:p>
            <a:pPr marL="0" lvl="0" indent="0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</a:rPr>
              <a:t>методи та програмні засоби розпізнавання команд, визначення наміру, виконання дій і </a:t>
            </a:r>
            <a:r>
              <a:rPr lang="uk-UA" dirty="0" err="1">
                <a:solidFill>
                  <a:srgbClr val="0D0D0D"/>
                </a:solidFill>
              </a:rPr>
              <a:t>журналювання</a:t>
            </a:r>
            <a:r>
              <a:rPr lang="uk-UA" dirty="0">
                <a:solidFill>
                  <a:srgbClr val="0D0D0D"/>
                </a:solidFill>
              </a:rPr>
              <a:t> подій.</a:t>
            </a: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734" y="4372228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06874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Постановка задачі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217423" y="585288"/>
            <a:ext cx="6506655" cy="3972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Для досягнення мети необхідно: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спроєктувати архітектуру системи </a:t>
            </a:r>
            <a:r>
              <a:rPr lang="en-US" sz="1600" dirty="0" err="1">
                <a:latin typeface="+mj-lt"/>
              </a:rPr>
              <a:t>Sreda</a:t>
            </a:r>
            <a:r>
              <a:rPr lang="en-US" sz="1600" dirty="0">
                <a:latin typeface="+mj-lt"/>
              </a:rPr>
              <a:t>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en-US" sz="1600" dirty="0">
                <a:latin typeface="+mj-lt"/>
              </a:rPr>
              <a:t>• </a:t>
            </a:r>
            <a:r>
              <a:rPr lang="uk-UA" sz="1600" dirty="0">
                <a:latin typeface="+mj-lt"/>
              </a:rPr>
              <a:t>реалізувати </a:t>
            </a:r>
            <a:r>
              <a:rPr lang="en-US" sz="1600" dirty="0">
                <a:latin typeface="+mj-lt"/>
              </a:rPr>
              <a:t>backend API </a:t>
            </a:r>
            <a:r>
              <a:rPr lang="uk-UA" sz="1600" dirty="0">
                <a:latin typeface="+mj-lt"/>
              </a:rPr>
              <a:t>для обробки команд;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реалізувати визначення наміру користувача;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підключити </a:t>
            </a:r>
            <a:r>
              <a:rPr lang="en-US" sz="1600" dirty="0">
                <a:latin typeface="+mj-lt"/>
              </a:rPr>
              <a:t>STT </a:t>
            </a:r>
            <a:r>
              <a:rPr lang="uk-UA" sz="1600" dirty="0">
                <a:latin typeface="+mj-lt"/>
              </a:rPr>
              <a:t>і </a:t>
            </a:r>
            <a:r>
              <a:rPr lang="en-US" sz="1600" dirty="0">
                <a:latin typeface="+mj-lt"/>
              </a:rPr>
              <a:t>TTS </a:t>
            </a:r>
            <a:r>
              <a:rPr lang="uk-UA" sz="1600" dirty="0">
                <a:latin typeface="+mj-lt"/>
              </a:rPr>
              <a:t>для голосового сценарію;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реалізувати керування віртуальними пристроями;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зберігати історію команд і журнал подій;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uk-UA" sz="1600" dirty="0">
                <a:latin typeface="+mj-lt"/>
              </a:rPr>
              <a:t>• створити </a:t>
            </a:r>
            <a:r>
              <a:rPr lang="uk-UA" sz="1600" dirty="0" err="1">
                <a:latin typeface="+mj-lt"/>
              </a:rPr>
              <a:t>вебінтерфейс</a:t>
            </a:r>
            <a:r>
              <a:rPr lang="uk-UA" sz="1600" dirty="0">
                <a:latin typeface="+mj-lt"/>
              </a:rPr>
              <a:t> для взаємодії з системою.</a:t>
            </a:r>
          </a:p>
          <a:p>
            <a:pPr marL="0" lvl="0" indent="0" algn="just">
              <a:spcBef>
                <a:spcPts val="1500"/>
              </a:spcBef>
              <a:buNone/>
            </a:pPr>
            <a:endParaRPr sz="1600" dirty="0">
              <a:latin typeface="+mj-lt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Архітектура програмного забезпечення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01CB07-53DD-7419-8520-5D6EF1DCD09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9" b="13364"/>
          <a:stretch>
            <a:fillRect/>
          </a:stretch>
        </p:blipFill>
        <p:spPr bwMode="auto">
          <a:xfrm>
            <a:off x="1089096" y="601358"/>
            <a:ext cx="6965807" cy="31764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2AC149-4EEC-BCA2-C31C-2CA211E1478F}"/>
              </a:ext>
            </a:extLst>
          </p:cNvPr>
          <p:cNvSpPr txBox="1"/>
          <p:nvPr/>
        </p:nvSpPr>
        <p:spPr>
          <a:xfrm>
            <a:off x="1585602" y="3777783"/>
            <a:ext cx="4572000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клієнт-серверна</a:t>
            </a:r>
            <a:r>
              <a:rPr lang="ru-UA" dirty="0"/>
              <a:t> </a:t>
            </a:r>
            <a:r>
              <a:rPr lang="ru-UA" dirty="0" err="1"/>
              <a:t>архітектура</a:t>
            </a:r>
            <a:r>
              <a:rPr lang="ru-UA" dirty="0"/>
              <a:t>;</a:t>
            </a:r>
          </a:p>
          <a:p>
            <a:pPr algn="just"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багатошаровий</a:t>
            </a:r>
            <a:r>
              <a:rPr lang="ru-UA" dirty="0"/>
              <a:t> </a:t>
            </a:r>
            <a:r>
              <a:rPr lang="ru-UA" dirty="0" err="1"/>
              <a:t>backend</a:t>
            </a:r>
            <a:r>
              <a:rPr lang="ru-UA" dirty="0"/>
              <a:t>;</a:t>
            </a:r>
          </a:p>
          <a:p>
            <a:pPr algn="just"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єдиний</a:t>
            </a:r>
            <a:r>
              <a:rPr lang="ru-UA" dirty="0"/>
              <a:t> </a:t>
            </a:r>
            <a:r>
              <a:rPr lang="ru-UA" dirty="0" err="1"/>
              <a:t>командний</a:t>
            </a:r>
            <a:r>
              <a:rPr lang="ru-UA" dirty="0"/>
              <a:t> </a:t>
            </a:r>
            <a:r>
              <a:rPr lang="ru-UA" dirty="0" err="1"/>
              <a:t>конвеєр</a:t>
            </a:r>
            <a:r>
              <a:rPr lang="ru-UA" dirty="0"/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8062B-4715-C34D-0B8E-7A21574758E4}"/>
              </a:ext>
            </a:extLst>
          </p:cNvPr>
          <p:cNvSpPr txBox="1"/>
          <p:nvPr/>
        </p:nvSpPr>
        <p:spPr>
          <a:xfrm>
            <a:off x="4368108" y="3907632"/>
            <a:ext cx="457200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UA" dirty="0"/>
              <a:t>• STT/TTS </a:t>
            </a:r>
            <a:r>
              <a:rPr lang="uk-UA" dirty="0"/>
              <a:t>сервіси </a:t>
            </a:r>
            <a:r>
              <a:rPr lang="ru-UA" dirty="0" err="1"/>
              <a:t>винесені</a:t>
            </a:r>
            <a:r>
              <a:rPr lang="ru-UA" dirty="0"/>
              <a:t> в </a:t>
            </a:r>
            <a:r>
              <a:rPr lang="ru-UA" dirty="0" err="1"/>
              <a:t>інфраструктурний</a:t>
            </a:r>
            <a:r>
              <a:rPr lang="ru-UA" dirty="0"/>
              <a:t> шар;</a:t>
            </a:r>
          </a:p>
          <a:p>
            <a:pPr algn="just">
              <a:lnSpc>
                <a:spcPct val="150000"/>
              </a:lnSpc>
            </a:pPr>
            <a:r>
              <a:rPr lang="ru-UA" dirty="0"/>
              <a:t>• база </a:t>
            </a:r>
            <a:r>
              <a:rPr lang="ru-UA" dirty="0" err="1"/>
              <a:t>даних</a:t>
            </a:r>
            <a:r>
              <a:rPr lang="ru-UA" dirty="0"/>
              <a:t> </a:t>
            </a:r>
            <a:r>
              <a:rPr lang="ru-UA" dirty="0" err="1"/>
              <a:t>PostgreSQL</a:t>
            </a:r>
            <a:r>
              <a:rPr lang="ru-UA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7B8A21-38F5-B5E1-DB44-782373D4C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42" y="691579"/>
            <a:ext cx="5129450" cy="43233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57640" y="0"/>
            <a:ext cx="8520600" cy="6915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/>
              <a:t>Проєктування бази даних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6A589-E11A-8403-BE31-5653635D72B3}"/>
              </a:ext>
            </a:extLst>
          </p:cNvPr>
          <p:cNvSpPr txBox="1"/>
          <p:nvPr/>
        </p:nvSpPr>
        <p:spPr>
          <a:xfrm>
            <a:off x="5925014" y="962579"/>
            <a:ext cx="2853225" cy="3370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uk-UA" sz="1600" dirty="0"/>
              <a:t>Таким чином, структура бази даних забезпечує збереження користувачів, команд, пристроїв, історії виконання та журналу подій, а також підтримує цілісність і можливість подальшого розширення системи.</a:t>
            </a:r>
            <a:endParaRPr lang="ru-UA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268925" y="379789"/>
            <a:ext cx="3660155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uk-UA" sz="3200" dirty="0"/>
              <a:t>Алгоритм обробки команд</a:t>
            </a:r>
            <a:endParaRPr sz="3200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2E4560-7D94-BEE6-FD1B-BCE0CD54CC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3"/>
          <a:stretch>
            <a:fillRect/>
          </a:stretch>
        </p:blipFill>
        <p:spPr bwMode="auto">
          <a:xfrm>
            <a:off x="4572000" y="379789"/>
            <a:ext cx="3357911" cy="43673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DE68A9-4E85-BEF7-18FC-82FB6018732A}"/>
              </a:ext>
            </a:extLst>
          </p:cNvPr>
          <p:cNvSpPr txBox="1"/>
          <p:nvPr/>
        </p:nvSpPr>
        <p:spPr>
          <a:xfrm>
            <a:off x="321991" y="1348102"/>
            <a:ext cx="4572000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UA" sz="1600" dirty="0"/>
              <a:t>• один шлях для </a:t>
            </a:r>
            <a:r>
              <a:rPr lang="ru-UA" sz="1600" dirty="0" err="1"/>
              <a:t>текстових</a:t>
            </a:r>
            <a:r>
              <a:rPr lang="ru-UA" sz="1600" dirty="0"/>
              <a:t> і </a:t>
            </a:r>
            <a:r>
              <a:rPr lang="ru-UA" sz="1600" dirty="0" err="1"/>
              <a:t>голосових</a:t>
            </a:r>
            <a:r>
              <a:rPr lang="ru-UA" sz="1600" dirty="0"/>
              <a:t> команд;</a:t>
            </a:r>
          </a:p>
          <a:p>
            <a:pPr algn="just">
              <a:lnSpc>
                <a:spcPct val="150000"/>
              </a:lnSpc>
            </a:pPr>
            <a:r>
              <a:rPr lang="ru-UA" sz="1600" dirty="0"/>
              <a:t>• </a:t>
            </a:r>
            <a:r>
              <a:rPr lang="ru-UA" sz="1600" dirty="0" err="1"/>
              <a:t>визначення</a:t>
            </a:r>
            <a:r>
              <a:rPr lang="ru-UA" sz="1600" dirty="0"/>
              <a:t> </a:t>
            </a:r>
            <a:r>
              <a:rPr lang="ru-UA" sz="1600" dirty="0" err="1"/>
              <a:t>наміру</a:t>
            </a:r>
            <a:r>
              <a:rPr lang="ru-UA" sz="1600" dirty="0"/>
              <a:t> через каталог команд і фраз;</a:t>
            </a:r>
          </a:p>
          <a:p>
            <a:pPr algn="just">
              <a:lnSpc>
                <a:spcPct val="150000"/>
              </a:lnSpc>
            </a:pPr>
            <a:r>
              <a:rPr lang="ru-UA" sz="1600" dirty="0"/>
              <a:t>• </a:t>
            </a:r>
            <a:r>
              <a:rPr lang="ru-UA" sz="1600" dirty="0" err="1"/>
              <a:t>перевірка</a:t>
            </a:r>
            <a:r>
              <a:rPr lang="ru-UA" sz="1600" dirty="0"/>
              <a:t> </a:t>
            </a:r>
            <a:r>
              <a:rPr lang="ru-UA" sz="1600" dirty="0" err="1"/>
              <a:t>можливості</a:t>
            </a:r>
            <a:r>
              <a:rPr lang="ru-UA" sz="1600" dirty="0"/>
              <a:t> </a:t>
            </a:r>
            <a:r>
              <a:rPr lang="ru-UA" sz="1600" dirty="0" err="1"/>
              <a:t>виконання</a:t>
            </a:r>
            <a:r>
              <a:rPr lang="ru-UA" sz="1600" dirty="0"/>
              <a:t>;</a:t>
            </a:r>
          </a:p>
          <a:p>
            <a:pPr algn="just">
              <a:lnSpc>
                <a:spcPct val="150000"/>
              </a:lnSpc>
            </a:pPr>
            <a:r>
              <a:rPr lang="ru-UA" sz="1600" dirty="0"/>
              <a:t>• </a:t>
            </a:r>
            <a:r>
              <a:rPr lang="ru-UA" sz="1600" dirty="0" err="1"/>
              <a:t>виконання</a:t>
            </a:r>
            <a:r>
              <a:rPr lang="ru-UA" sz="1600" dirty="0"/>
              <a:t> </a:t>
            </a:r>
            <a:r>
              <a:rPr lang="ru-UA" sz="1600" dirty="0" err="1"/>
              <a:t>дії</a:t>
            </a:r>
            <a:r>
              <a:rPr lang="ru-UA" sz="1600" dirty="0"/>
              <a:t>;</a:t>
            </a:r>
          </a:p>
          <a:p>
            <a:pPr algn="just">
              <a:lnSpc>
                <a:spcPct val="150000"/>
              </a:lnSpc>
            </a:pPr>
            <a:r>
              <a:rPr lang="ru-UA" sz="1600" dirty="0"/>
              <a:t>• </a:t>
            </a:r>
            <a:r>
              <a:rPr lang="ru-UA" sz="1600" dirty="0" err="1"/>
              <a:t>журналювання</a:t>
            </a:r>
            <a:r>
              <a:rPr lang="ru-UA" sz="1600" dirty="0"/>
              <a:t> результату.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Засоби розробки</a:t>
            </a:r>
            <a:endParaRPr sz="32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55CCB3-5125-A789-8538-63D9E14B2B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36" b="7838"/>
          <a:stretch>
            <a:fillRect/>
          </a:stretch>
        </p:blipFill>
        <p:spPr>
          <a:xfrm>
            <a:off x="1266592" y="752490"/>
            <a:ext cx="6412881" cy="40077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639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uk-UA" sz="3200" dirty="0"/>
              <a:t>Приклад реалізації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5127D4-5007-417D-45AA-C9241074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9" y="378966"/>
            <a:ext cx="4244433" cy="42444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5B8DD0-C71E-0A9E-37B9-8B9B18C7DD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429"/>
          <a:stretch>
            <a:fillRect/>
          </a:stretch>
        </p:blipFill>
        <p:spPr>
          <a:xfrm>
            <a:off x="4364860" y="399912"/>
            <a:ext cx="3138994" cy="416422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7F10D2-00F4-F87E-ABCC-754BF315F7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9" r="7238"/>
          <a:stretch>
            <a:fillRect/>
          </a:stretch>
        </p:blipFill>
        <p:spPr>
          <a:xfrm>
            <a:off x="6720467" y="2571751"/>
            <a:ext cx="2354493" cy="1151938"/>
          </a:xfrm>
          <a:prstGeom prst="rect">
            <a:avLst/>
          </a:prstGeom>
        </p:spPr>
      </p:pic>
      <p:pic>
        <p:nvPicPr>
          <p:cNvPr id="122" name="Google Shape;12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08" y="4522134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9A6C0D6-D7CF-8963-2A44-4E1AF01EF4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1255" y="1902179"/>
            <a:ext cx="5895865" cy="3135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75A3029-5338-9DA7-4B7D-8513A46C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AD93559F-8284-2DB0-6C5D-F8D201C2F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15347"/>
            <a:ext cx="8520600" cy="639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uk-UA" sz="3200" dirty="0"/>
              <a:t>Обчислення впевненості розпізнавання команди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BE287-17E0-E483-F226-FD8733625128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17DB11CC-CFFE-6289-1EF8-5295AA3AE4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08" y="4522134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621766-B0A4-6947-076A-5549446B2FCD}"/>
              </a:ext>
            </a:extLst>
          </p:cNvPr>
          <p:cNvSpPr txBox="1"/>
          <p:nvPr/>
        </p:nvSpPr>
        <p:spPr>
          <a:xfrm>
            <a:off x="512833" y="767946"/>
            <a:ext cx="4590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/>
              <a:t>C = </a:t>
            </a:r>
            <a:r>
              <a:rPr lang="ru-UA" dirty="0" err="1"/>
              <a:t>max</a:t>
            </a:r>
            <a:r>
              <a:rPr lang="ru-UA" dirty="0"/>
              <a:t> S(t, pᵢ), i = 1..n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F59CD-7178-60C4-F59C-8B7ED807803A}"/>
              </a:ext>
            </a:extLst>
          </p:cNvPr>
          <p:cNvSpPr txBox="1"/>
          <p:nvPr/>
        </p:nvSpPr>
        <p:spPr>
          <a:xfrm>
            <a:off x="512833" y="1075723"/>
            <a:ext cx="45905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де </a:t>
            </a:r>
            <a:r>
              <a:rPr lang="ru-UA"/>
              <a:t>C </a:t>
            </a:r>
            <a:r>
              <a:rPr lang="ru-RU"/>
              <a:t>–</a:t>
            </a:r>
            <a:r>
              <a:rPr lang="ru-UA"/>
              <a:t> підсумкова впевненість;</a:t>
            </a:r>
          </a:p>
          <a:p>
            <a:r>
              <a:rPr lang="ru-RU"/>
              <a:t>      </a:t>
            </a:r>
            <a:r>
              <a:rPr lang="ru-UA"/>
              <a:t>t </a:t>
            </a:r>
            <a:r>
              <a:rPr lang="ru-RU"/>
              <a:t>–</a:t>
            </a:r>
            <a:r>
              <a:rPr lang="ru-UA"/>
              <a:t> текст користувача;</a:t>
            </a:r>
          </a:p>
          <a:p>
            <a:r>
              <a:rPr lang="ru-RU"/>
              <a:t>      </a:t>
            </a:r>
            <a:r>
              <a:rPr lang="ru-UA"/>
              <a:t>pᵢ </a:t>
            </a:r>
            <a:r>
              <a:rPr lang="ru-RU"/>
              <a:t>–</a:t>
            </a:r>
            <a:r>
              <a:rPr lang="ru-UA"/>
              <a:t> еталонна фраза з БД;</a:t>
            </a:r>
          </a:p>
          <a:p>
            <a:r>
              <a:rPr lang="ru-RU"/>
              <a:t>      </a:t>
            </a:r>
            <a:r>
              <a:rPr lang="ru-UA"/>
              <a:t>S(t, pᵢ) </a:t>
            </a:r>
            <a:r>
              <a:rPr lang="ru-RU"/>
              <a:t>– </a:t>
            </a:r>
            <a:r>
              <a:rPr lang="ru-UA"/>
              <a:t>схожість між фразами.</a:t>
            </a:r>
            <a:endParaRPr lang="ru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0EA-DC39-EBDB-C0EE-33B901F37CA6}"/>
              </a:ext>
            </a:extLst>
          </p:cNvPr>
          <p:cNvSpPr txBox="1"/>
          <p:nvPr/>
        </p:nvSpPr>
        <p:spPr>
          <a:xfrm>
            <a:off x="3930804" y="862360"/>
            <a:ext cx="45905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порівнює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усіма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фразами в БД</a:t>
            </a:r>
          </a:p>
          <a:p>
            <a:pPr algn="just"/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обирає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найбільше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UA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схожості</a:t>
            </a:r>
            <a:r>
              <a:rPr lang="ru-U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25643-41C9-1D22-FD33-76876DC06169}"/>
              </a:ext>
            </a:extLst>
          </p:cNvPr>
          <p:cNvSpPr txBox="1"/>
          <p:nvPr/>
        </p:nvSpPr>
        <p:spPr>
          <a:xfrm>
            <a:off x="2584049" y="554583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Загальна формула</a:t>
            </a:r>
            <a:endParaRPr lang="ru-UA" b="1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12F049-5A64-1289-E9BA-EAFD7F1D4778}"/>
              </a:ext>
            </a:extLst>
          </p:cNvPr>
          <p:cNvSpPr/>
          <p:nvPr/>
        </p:nvSpPr>
        <p:spPr>
          <a:xfrm>
            <a:off x="512833" y="486155"/>
            <a:ext cx="8362242" cy="15436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77757-3910-6ACB-44D4-6CBF1178300C}"/>
              </a:ext>
            </a:extLst>
          </p:cNvPr>
          <p:cNvSpPr txBox="1"/>
          <p:nvPr/>
        </p:nvSpPr>
        <p:spPr>
          <a:xfrm>
            <a:off x="4904055" y="3961953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L(t,p) = 1 - d(t,p) / max(|t|, |p|)</a:t>
            </a:r>
            <a:endParaRPr lang="ru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AD3BC0-66D8-69E9-9AD1-C10C1272E43D}"/>
              </a:ext>
            </a:extLst>
          </p:cNvPr>
          <p:cNvSpPr txBox="1"/>
          <p:nvPr/>
        </p:nvSpPr>
        <p:spPr>
          <a:xfrm>
            <a:off x="943958" y="2795431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 err="1"/>
              <a:t>Exact</a:t>
            </a:r>
            <a:r>
              <a:rPr lang="ru-UA" dirty="0"/>
              <a:t>:      S(t, p) =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A5740-8CF3-3FC2-1C62-E7B644843A27}"/>
              </a:ext>
            </a:extLst>
          </p:cNvPr>
          <p:cNvSpPr txBox="1"/>
          <p:nvPr/>
        </p:nvSpPr>
        <p:spPr>
          <a:xfrm>
            <a:off x="943958" y="3235568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/>
              <a:t>Contains:   S(t, p) = 0,8 + 0,2 · m/k</a:t>
            </a:r>
            <a:endParaRPr lang="ru-UA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44CB14-CB10-A6D6-E48A-B11C89FC0931}"/>
              </a:ext>
            </a:extLst>
          </p:cNvPr>
          <p:cNvSpPr txBox="1"/>
          <p:nvPr/>
        </p:nvSpPr>
        <p:spPr>
          <a:xfrm>
            <a:off x="943958" y="3675705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 err="1"/>
              <a:t>Fuzzy</a:t>
            </a:r>
            <a:r>
              <a:rPr lang="ru-UA" dirty="0"/>
              <a:t>:      S(t, p) = 0,8 · </a:t>
            </a:r>
            <a:r>
              <a:rPr lang="ru-UA" dirty="0" err="1"/>
              <a:t>max</a:t>
            </a:r>
            <a:r>
              <a:rPr lang="ru-UA" dirty="0"/>
              <a:t>(D(A,B), L(</a:t>
            </a:r>
            <a:r>
              <a:rPr lang="ru-UA" dirty="0" err="1"/>
              <a:t>t,p</a:t>
            </a:r>
            <a:r>
              <a:rPr lang="ru-UA" dirty="0"/>
              <a:t>))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CFD88A-318C-33DB-148C-4A84BF7D3EB5}"/>
              </a:ext>
            </a:extLst>
          </p:cNvPr>
          <p:cNvSpPr txBox="1"/>
          <p:nvPr/>
        </p:nvSpPr>
        <p:spPr>
          <a:xfrm>
            <a:off x="4904055" y="3356357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D(A,B) = 2 · |A ∩ B| / (|A| + |B|)</a:t>
            </a:r>
            <a:endParaRPr lang="ru-UA" dirty="0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E78B9161-E2B0-2A09-C738-861798BCA250}"/>
              </a:ext>
            </a:extLst>
          </p:cNvPr>
          <p:cNvCxnSpPr/>
          <p:nvPr/>
        </p:nvCxnSpPr>
        <p:spPr>
          <a:xfrm flipV="1">
            <a:off x="4540138" y="3543345"/>
            <a:ext cx="266217" cy="286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8544329-0D39-2799-ABB3-63151C9A3D73}"/>
              </a:ext>
            </a:extLst>
          </p:cNvPr>
          <p:cNvCxnSpPr>
            <a:cxnSpLocks/>
          </p:cNvCxnSpPr>
          <p:nvPr/>
        </p:nvCxnSpPr>
        <p:spPr>
          <a:xfrm>
            <a:off x="4524304" y="3903739"/>
            <a:ext cx="221891" cy="26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1257CE2-5713-29BA-353E-0411F4C6DC2A}"/>
              </a:ext>
            </a:extLst>
          </p:cNvPr>
          <p:cNvSpPr txBox="1"/>
          <p:nvPr/>
        </p:nvSpPr>
        <p:spPr>
          <a:xfrm>
            <a:off x="2725806" y="2406035"/>
            <a:ext cx="4589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Як рахується схожість</a:t>
            </a:r>
            <a:endParaRPr lang="ru-UA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3299076-8923-33B5-B60A-6A59CF6C4C6E}"/>
              </a:ext>
            </a:extLst>
          </p:cNvPr>
          <p:cNvSpPr/>
          <p:nvPr/>
        </p:nvSpPr>
        <p:spPr>
          <a:xfrm>
            <a:off x="512833" y="2246047"/>
            <a:ext cx="8362242" cy="2129507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FE393F-7B13-BB29-8881-184D7E7009C3}"/>
              </a:ext>
            </a:extLst>
          </p:cNvPr>
          <p:cNvSpPr txBox="1"/>
          <p:nvPr/>
        </p:nvSpPr>
        <p:spPr>
          <a:xfrm>
            <a:off x="1366656" y="4461598"/>
            <a:ext cx="6988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Механізм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не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випадкові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неточно </a:t>
            </a:r>
            <a:r>
              <a:rPr lang="ru-RU" dirty="0" err="1"/>
              <a:t>розпізнані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зменшуючи</a:t>
            </a:r>
            <a:r>
              <a:rPr lang="ru-RU" dirty="0"/>
              <a:t> </a:t>
            </a:r>
            <a:r>
              <a:rPr lang="ru-RU" dirty="0" err="1"/>
              <a:t>ризик</a:t>
            </a:r>
            <a:r>
              <a:rPr lang="ru-RU" dirty="0"/>
              <a:t> </a:t>
            </a:r>
            <a:r>
              <a:rPr lang="ru-RU" dirty="0" err="1"/>
              <a:t>помилкової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69118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Користувацький інтерфейс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C671CA-13C1-9158-4EB3-526772DF3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" y="670615"/>
            <a:ext cx="4642921" cy="237738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F9D995-0026-10D0-13DF-D714B6562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021" y="613804"/>
            <a:ext cx="4716271" cy="24910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A40A9-C9DE-FA69-BBCA-9F9035E89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8" y="2536740"/>
            <a:ext cx="4501152" cy="23773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68881F-1406-C6A9-00C3-B0E1BC5173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7965" y="2423119"/>
            <a:ext cx="4669930" cy="2491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Аналіз результатів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ED67B97-4A40-04E0-690F-92E45DBD6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958959"/>
              </p:ext>
            </p:extLst>
          </p:nvPr>
        </p:nvGraphicFramePr>
        <p:xfrm>
          <a:off x="268925" y="781611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932828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2892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Вимога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Результат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16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Текстові команди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559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Голосові команди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84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STT/TTS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31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Визначення наміру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5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Віртуальні пристрої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930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Історія та події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55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uk-UA" dirty="0"/>
                        <a:t>реалізовано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1018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572E90B-6621-F57B-C551-179BE3201B07}"/>
              </a:ext>
            </a:extLst>
          </p:cNvPr>
          <p:cNvSpPr txBox="1"/>
          <p:nvPr/>
        </p:nvSpPr>
        <p:spPr>
          <a:xfrm>
            <a:off x="6495905" y="1217418"/>
            <a:ext cx="2648095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UA" dirty="0" err="1"/>
              <a:t>Подальший</a:t>
            </a:r>
            <a:r>
              <a:rPr lang="ru-UA" dirty="0"/>
              <a:t> </a:t>
            </a:r>
            <a:r>
              <a:rPr lang="ru-UA" dirty="0" err="1"/>
              <a:t>розвиток</a:t>
            </a:r>
            <a:r>
              <a:rPr lang="ru-UA" dirty="0"/>
              <a:t>:</a:t>
            </a:r>
          </a:p>
          <a:p>
            <a:pPr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production-автентифікація</a:t>
            </a:r>
            <a:r>
              <a:rPr lang="ru-UA" dirty="0"/>
              <a:t>;</a:t>
            </a:r>
          </a:p>
          <a:p>
            <a:pPr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підключення</a:t>
            </a:r>
            <a:r>
              <a:rPr lang="ru-UA" dirty="0"/>
              <a:t> </a:t>
            </a:r>
            <a:r>
              <a:rPr lang="ru-UA" dirty="0" err="1"/>
              <a:t>фізичних</a:t>
            </a:r>
            <a:r>
              <a:rPr lang="ru-UA" dirty="0"/>
              <a:t> </a:t>
            </a:r>
            <a:r>
              <a:rPr lang="ru-UA" dirty="0" err="1"/>
              <a:t>IoT-пристроїв</a:t>
            </a:r>
            <a:r>
              <a:rPr lang="ru-UA" dirty="0"/>
              <a:t>;</a:t>
            </a:r>
          </a:p>
          <a:p>
            <a:pPr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покращення</a:t>
            </a:r>
            <a:r>
              <a:rPr lang="ru-UA" dirty="0"/>
              <a:t> NLP;</a:t>
            </a:r>
          </a:p>
          <a:p>
            <a:pPr>
              <a:lnSpc>
                <a:spcPct val="150000"/>
              </a:lnSpc>
            </a:pPr>
            <a:r>
              <a:rPr lang="ru-UA" dirty="0"/>
              <a:t>• </a:t>
            </a:r>
            <a:r>
              <a:rPr lang="ru-UA" dirty="0" err="1"/>
              <a:t>голосові</a:t>
            </a:r>
            <a:r>
              <a:rPr lang="ru-UA" dirty="0"/>
              <a:t> </a:t>
            </a:r>
            <a:r>
              <a:rPr lang="ru-UA" dirty="0" err="1"/>
              <a:t>профілі</a:t>
            </a:r>
            <a:r>
              <a:rPr lang="ru-UA" dirty="0"/>
              <a:t> </a:t>
            </a:r>
            <a:r>
              <a:rPr lang="ru-UA" dirty="0" err="1"/>
              <a:t>користувачів</a:t>
            </a:r>
            <a:r>
              <a:rPr lang="ru-UA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904A6-37B0-2F67-E266-C747577DD8C4}"/>
              </a:ext>
            </a:extLst>
          </p:cNvPr>
          <p:cNvSpPr txBox="1"/>
          <p:nvPr/>
        </p:nvSpPr>
        <p:spPr>
          <a:xfrm>
            <a:off x="1443216" y="3990168"/>
            <a:ext cx="76190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 err="1"/>
              <a:t>Основний</a:t>
            </a:r>
            <a:r>
              <a:rPr lang="ru-UA" dirty="0"/>
              <a:t> результат:</a:t>
            </a:r>
          </a:p>
          <a:p>
            <a:r>
              <a:rPr lang="ru-UA" dirty="0"/>
              <a:t>система </a:t>
            </a:r>
            <a:r>
              <a:rPr lang="ru-UA" dirty="0" err="1"/>
              <a:t>демонструє</a:t>
            </a:r>
            <a:r>
              <a:rPr lang="ru-UA" dirty="0"/>
              <a:t> </a:t>
            </a:r>
            <a:r>
              <a:rPr lang="ru-UA" dirty="0" err="1"/>
              <a:t>повний</a:t>
            </a:r>
            <a:r>
              <a:rPr lang="ru-UA" dirty="0"/>
              <a:t> цикл </a:t>
            </a:r>
            <a:r>
              <a:rPr lang="ru-UA" dirty="0" err="1"/>
              <a:t>роботи</a:t>
            </a:r>
            <a:r>
              <a:rPr lang="ru-UA" dirty="0"/>
              <a:t> </a:t>
            </a:r>
            <a:r>
              <a:rPr lang="ru-UA" dirty="0" err="1"/>
              <a:t>мовного</a:t>
            </a:r>
            <a:r>
              <a:rPr lang="ru-UA" dirty="0"/>
              <a:t> </a:t>
            </a:r>
            <a:r>
              <a:rPr lang="ru-UA" dirty="0" err="1"/>
              <a:t>інтерфейсу</a:t>
            </a:r>
            <a:r>
              <a:rPr lang="ru-UA" dirty="0"/>
              <a:t>:</a:t>
            </a:r>
          </a:p>
          <a:p>
            <a:r>
              <a:rPr lang="ru-UA" dirty="0"/>
              <a:t>команда → </a:t>
            </a:r>
            <a:r>
              <a:rPr lang="ru-UA" dirty="0" err="1"/>
              <a:t>розпізнавання</a:t>
            </a:r>
            <a:r>
              <a:rPr lang="ru-UA" dirty="0"/>
              <a:t> → </a:t>
            </a:r>
            <a:r>
              <a:rPr lang="ru-UA" dirty="0" err="1"/>
              <a:t>виконання</a:t>
            </a:r>
            <a:r>
              <a:rPr lang="ru-UA" dirty="0"/>
              <a:t> → </a:t>
            </a:r>
            <a:r>
              <a:rPr lang="ru-UA" dirty="0" err="1"/>
              <a:t>журналювання</a:t>
            </a:r>
            <a:r>
              <a:rPr lang="ru-UA" dirty="0"/>
              <a:t> → </a:t>
            </a:r>
            <a:r>
              <a:rPr lang="ru-UA" dirty="0" err="1"/>
              <a:t>відповідь</a:t>
            </a:r>
            <a:r>
              <a:rPr lang="ru-UA" dirty="0"/>
              <a:t> </a:t>
            </a:r>
            <a:r>
              <a:rPr lang="ru-UA" dirty="0" err="1"/>
              <a:t>користувачу</a:t>
            </a:r>
            <a:r>
              <a:rPr lang="ru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Висновки</a:t>
            </a:r>
            <a:r>
              <a:rPr lang="uk" sz="3200" dirty="0"/>
              <a:t>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99666" y="796013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У результаті роботи: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• розроблено </a:t>
            </a:r>
            <a:r>
              <a:rPr lang="en-US" dirty="0"/>
              <a:t>backend API </a:t>
            </a:r>
            <a:r>
              <a:rPr lang="uk-UA" dirty="0"/>
              <a:t>системи </a:t>
            </a:r>
            <a:r>
              <a:rPr lang="en-US" dirty="0" err="1"/>
              <a:t>Sreda</a:t>
            </a:r>
            <a:r>
              <a:rPr lang="en-US" dirty="0"/>
              <a:t>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uk-UA" dirty="0"/>
              <a:t>реалізовано єдиний командний конвеєр;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• підключено </a:t>
            </a:r>
            <a:r>
              <a:rPr lang="en-US" dirty="0"/>
              <a:t>STT/TTS </a:t>
            </a:r>
            <a:r>
              <a:rPr lang="uk-UA" dirty="0"/>
              <a:t>для голосових команд;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• створено структуру БД </a:t>
            </a:r>
            <a:r>
              <a:rPr lang="en-US" dirty="0"/>
              <a:t>PostgreSQL;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uk-UA" dirty="0"/>
              <a:t>реалізовано керування віртуальними пристроями;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• створено </a:t>
            </a:r>
            <a:r>
              <a:rPr lang="uk-UA" dirty="0" err="1"/>
              <a:t>вебінтерфейс</a:t>
            </a:r>
            <a:r>
              <a:rPr lang="uk-UA" dirty="0"/>
              <a:t> для взаємодії з системою;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dirty="0"/>
              <a:t>• проведено тестування основних сценаріїв.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B57AD-2B5D-45CF-D315-9EA30E50CBB2}"/>
              </a:ext>
            </a:extLst>
          </p:cNvPr>
          <p:cNvSpPr txBox="1"/>
          <p:nvPr/>
        </p:nvSpPr>
        <p:spPr>
          <a:xfrm>
            <a:off x="2422530" y="4027206"/>
            <a:ext cx="50643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 err="1"/>
              <a:t>Backend</a:t>
            </a:r>
            <a:r>
              <a:rPr lang="ru-UA" dirty="0"/>
              <a:t>:</a:t>
            </a:r>
          </a:p>
          <a:p>
            <a:r>
              <a:rPr lang="en-US" dirty="0">
                <a:hlinkClick r:id="rId4"/>
              </a:rPr>
              <a:t>https://github.com/NurePyvovarStanislav/Sreda.Backend.git</a:t>
            </a:r>
            <a:endParaRPr lang="ru-UA" dirty="0"/>
          </a:p>
          <a:p>
            <a:r>
              <a:rPr lang="ru-UA" dirty="0" err="1"/>
              <a:t>Frontend</a:t>
            </a:r>
            <a:r>
              <a:rPr lang="ru-UA" dirty="0"/>
              <a:t>:</a:t>
            </a:r>
          </a:p>
          <a:p>
            <a:r>
              <a:rPr lang="en-US" dirty="0">
                <a:hlinkClick r:id="rId5"/>
              </a:rPr>
              <a:t>https://github.com/NurePyvovarStanislav/Sreda.Frontend.git</a:t>
            </a:r>
            <a:endParaRPr lang="ru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F6E18389CCF00846BE0EB57BB84F96A4" ma:contentTypeVersion="5" ma:contentTypeDescription="Створення нового документа." ma:contentTypeScope="" ma:versionID="34b002455dbc2a826ce8475f7a900e58">
  <xsd:schema xmlns:xsd="http://www.w3.org/2001/XMLSchema" xmlns:xs="http://www.w3.org/2001/XMLSchema" xmlns:p="http://schemas.microsoft.com/office/2006/metadata/properties" xmlns:ns3="71320fdc-e3bf-4a0a-b164-1a32c08c0b64" targetNamespace="http://schemas.microsoft.com/office/2006/metadata/properties" ma:root="true" ma:fieldsID="b3bb6af3a0d4afa1d50dd18ba3b35d71" ns3:_="">
    <xsd:import namespace="71320fdc-e3bf-4a0a-b164-1a32c08c0b6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20fdc-e3bf-4a0a-b164-1a32c08c0b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991B41-226A-4C27-863F-FCAE393992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909741-9168-4727-91A7-D56986E9CE62}">
  <ds:schemaRefs>
    <ds:schemaRef ds:uri="http://purl.org/dc/terms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1320fdc-e3bf-4a0a-b164-1a32c08c0b64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6980DC8-86C3-40CE-BF17-7AA8E1E9DE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320fdc-e3bf-4a0a-b164-1a32c08c0b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548</TotalTime>
  <Words>689</Words>
  <Application>Microsoft Office PowerPoint</Application>
  <PresentationFormat>Экран (16:9)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Economica</vt:lpstr>
      <vt:lpstr>Open Sans</vt:lpstr>
      <vt:lpstr>Times New Roman</vt:lpstr>
      <vt:lpstr>Arial</vt:lpstr>
      <vt:lpstr>Шаблон презентації кваліфікаційної роботи магістрів</vt:lpstr>
      <vt:lpstr>Програмна система мовного інтерфейсу на основі методів штучного інтелекту</vt:lpstr>
      <vt:lpstr>Актуальність теми</vt:lpstr>
      <vt:lpstr>Аналіз аналогів</vt:lpstr>
      <vt:lpstr>Мета, об’єкт і предмет роботи</vt:lpstr>
      <vt:lpstr>Постановка задачі</vt:lpstr>
      <vt:lpstr>Архітектура програмного забезпечення</vt:lpstr>
      <vt:lpstr>Проєктування бази даних</vt:lpstr>
      <vt:lpstr>Алгоритм обробки команд</vt:lpstr>
      <vt:lpstr>Засоби розробки</vt:lpstr>
      <vt:lpstr>Приклад реалізації</vt:lpstr>
      <vt:lpstr>Обчислення впевненості розпізнавання команди</vt:lpstr>
      <vt:lpstr>Користувацький інтерфейс</vt:lpstr>
      <vt:lpstr>Аналіз результатів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Станіслав Пивовар</dc:creator>
  <cp:lastModifiedBy>Станіслав Пивовар</cp:lastModifiedBy>
  <cp:revision>2</cp:revision>
  <dcterms:created xsi:type="dcterms:W3CDTF">2026-06-07T14:29:43Z</dcterms:created>
  <dcterms:modified xsi:type="dcterms:W3CDTF">2026-06-15T14:32:29Z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0x010100F6E18389CCF00846BE0EB57BB84F96A4</vt:lpwstr>
  </property>
</Properties>
</file>